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slideMasters/slideMaster1.xml"/>
  <Relationship Id="rId2"
    Type="http://schemas.openxmlformats.org/officeDocument/2006/relationships/slide"
    Target="slides/slide1.xml"/>
  <Relationship Id="rId3"
    Type="http://schemas.openxmlformats.org/officeDocument/2006/relationships/theme"
    Target="theme/theme1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wrap="sq" lIns="91440" rIns="91440" tIns="60000" bIns="60000" anchor="t"/>
          <a:lstStyle/>
          <a:p>
            <a:endParaRPr lang="en-US" sz="800" dirty="0"/>
          </a:p>
        </p:txBody>
      </p:sp>
      <p:sp>
        <p:nvSpPr>
          <p:cNvPr id="3" name="title"/>
          <p:cNvSpPr txBox="1">
            <a:spLocks noGrp="1"/>
          </p:cNvSpPr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111827"/>
          </a:solidFill>
          <a:ln w="19050">
            <a:solidFill>
              <a:srgbClr val="1E3A5F"/>
            </a:solidFill>
          </a:ln>
        </p:spPr>
        <p:txBody>
          <a:bodyPr wrap="sq" lIns="91440" rIns="91440" tIns="70000" bIns="30000" anchor="t"/>
          <a:lstStyle/>
          <a:p>
            <a:pPr algn="l"/>
            <a:r>
              <a:rPr lang="en-US" sz="2200" b="1" i="0" dirty="0">
                <a:solidFill>
                  <a:srgbClr val="FFA500"/>
                </a:solidFill>
                <a:latin typeface="Calibri"/>
              </a:rPr>
              <a:t>Baseline 1  —  Xn-Based NTN Handover  |  Implementation Flow</a:t>
            </a:r>
          </a:p>
          <a:p>
            <a:pPr algn="l"/>
            <a:r>
              <a:rPr lang="en-US" sz="1300" b="0" i="0" dirty="0">
                <a:solidFill>
                  <a:srgbClr val="8B949E"/>
                </a:solidFill>
                <a:latin typeface="Calibri"/>
              </a:rPr>
              <a:t>Source gNB triggers CLI command  →  Xn prep (JSON/TCP)  →  UE context release (NGAP)  →  UE re-attaches on target</a:t>
            </a:r>
          </a:p>
        </p:txBody>
      </p:sp>
      <p:sp>
        <p:nvSpPr>
          <p:cNvPr id="4" name="panel1"/>
          <p:cNvSpPr txBox="1">
            <a:spLocks noGrp="1"/>
          </p:cNvSpPr>
          <p:nvPr/>
        </p:nvSpPr>
        <p:spPr>
          <a:xfrm>
            <a:off x="80000" y="650000"/>
            <a:ext cx="3960000" cy="6128000"/>
          </a:xfrm>
          <a:prstGeom prst="rect">
            <a:avLst/>
          </a:prstGeom>
          <a:solidFill>
            <a:srgbClr val="0D1B2A"/>
          </a:solidFill>
          <a:ln w="19050">
            <a:solidFill>
              <a:srgbClr val="1E4A8A"/>
            </a:solidFill>
          </a:ln>
        </p:spPr>
        <p:txBody>
          <a:bodyPr wrap="sq" lIns="91440" rIns="91440" tIns="60000" bIns="60000" anchor="t"/>
          <a:lstStyle/>
          <a:p>
            <a:endParaRPr lang="en-US" sz="800" dirty="0"/>
          </a:p>
        </p:txBody>
      </p:sp>
      <p:sp>
        <p:nvSpPr>
          <p:cNvPr id="5" name="hdr1"/>
          <p:cNvSpPr txBox="1">
            <a:spLocks noGrp="1"/>
          </p:cNvSpPr>
          <p:nvPr/>
        </p:nvSpPr>
        <p:spPr>
          <a:xfrm>
            <a:off x="80000" y="650000"/>
            <a:ext cx="3960000" cy="360000"/>
          </a:xfrm>
          <a:prstGeom prst="rect">
            <a:avLst/>
          </a:prstGeom>
          <a:solidFill>
            <a:srgbClr val="0C2340"/>
          </a:solidFill>
          <a:ln w="19050">
            <a:solidFill>
              <a:srgbClr val="1E4A8A"/>
            </a:solidFill>
          </a:ln>
        </p:spPr>
        <p:txBody>
          <a:bodyPr wrap="sq" lIns="120000" rIns="91440" tIns="110000" bIns="60000" anchor="t"/>
          <a:lstStyle/>
          <a:p>
            <a:pPr algn="l"/>
            <a:r>
              <a:rPr lang="en-US" sz="1300" b="1" i="0" dirty="0">
                <a:solidFill>
                  <a:srgbClr val="60A5FA"/>
                </a:solidFill>
                <a:latin typeface="Calibri"/>
              </a:rPr>
              <a:t>①  Source gNB  —  handover.cpp</a:t>
            </a:r>
          </a:p>
        </p:txBody>
      </p:sp>
      <p:sp>
        <p:nvSpPr>
          <p:cNvPr id="6" name="content1"/>
          <p:cNvSpPr txBox="1">
            <a:spLocks noGrp="1"/>
          </p:cNvSpPr>
          <p:nvPr/>
        </p:nvSpPr>
        <p:spPr>
          <a:xfrm>
            <a:off x="80000" y="1010000"/>
            <a:ext cx="3960000" cy="576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" lIns="120000" rIns="80000" tIns="80000" bIns="60000" anchor="t"/>
          <a:lstStyle/>
          <a:p>
            <a:pPr algn="l"/>
            <a:r>
              <a:rPr lang="en-US" sz="1100" b="1" i="0" dirty="0">
                <a:solidFill>
                  <a:srgbClr val="60A5FA"/>
                </a:solidFill>
                <a:latin typeface="Consolas"/>
              </a:rPr>
              <a:t>triggerXnHandover(ueId, addr, port, sst)</a:t>
            </a:r>
          </a:p>
          <a:p>
            <a:pPr algn="l"/>
            <a:r>
              <a:rPr lang="en-US" sz="800" b="0" i="0" dirty="0">
                <a:solidFill>
                  <a:srgbClr val="1E4A8A"/>
                </a:solidFill>
                <a:latin typeface="Calibri"/>
              </a:rPr>
              <a:t>────────────────────────────────────────────</a:t>
            </a:r>
          </a:p>
          <a:p>
            <a:pPr algn="l">
              <a:spcBef>
                <a:spcPts val="400"/>
              </a:spcBef>
            </a:pPr>
            <a:r>
              <a:rPr lang="en-US" sz="1000" b="0" i="0" dirty="0">
                <a:solidFill>
                  <a:srgbClr val="FBBF24"/>
                </a:solidFill>
                <a:latin typeface="Consolas"/>
              </a:rPr>
              <a:t>T1 ← CurrentTimeMillis()</a:t>
            </a:r>
          </a:p>
          <a:p>
            <a:pPr algn="l">
              <a:spcBef>
                <a:spcPts val="600"/>
              </a:spcBef>
            </a:pPr>
            <a:r>
              <a:rPr lang="en-US" sz="1000" b="1" i="0" dirty="0">
                <a:solidFill>
                  <a:srgbClr val="E2E8F0"/>
                </a:solidFill>
                <a:latin typeface="Calibri"/>
              </a:rPr>
              <a:t>Build XnHandoverRequest JSON: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{ ueId, amfUeNgapId, ranUeNgapId,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  sliceSst, sourceGnb }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4ADE80"/>
                </a:solidFill>
                <a:latin typeface="Consolas"/>
              </a:rPr>
              <a:t>TcpSendRecv(targetAddr, 38422, payload)</a:t>
            </a:r>
          </a:p>
          <a:p>
            <a:pPr algn="l"/>
            <a:r>
              <a:rPr lang="en-US" sz="1000" b="0" i="1" dirty="0">
                <a:solidFill>
                  <a:srgbClr val="8B949E"/>
                </a:solidFill>
                <a:latin typeface="Calibri"/>
              </a:rPr>
              <a:t>  ← blocks until XnHandoverAck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FBBF24"/>
                </a:solidFill>
                <a:latin typeface="Consolas"/>
              </a:rPr>
              <a:t>T2 ← CurrentTimeMillis()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E2E8F0"/>
                </a:solidFill>
                <a:latin typeface="Consolas"/>
              </a:rPr>
              <a:t>if dispatcherAddress.empty():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// Baseline 1 — no dispatcher</a:t>
            </a:r>
          </a:p>
          <a:p>
            <a:pPr algn="l"/>
            <a:r>
              <a:rPr lang="en-US" sz="1000" b="0" i="0" dirty="0">
                <a:solidFill>
                  <a:srgbClr val="FC8181"/>
                </a:solidFill>
                <a:latin typeface="Consolas"/>
              </a:rPr>
              <a:t>  log warning; SKIP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T3 ≈ T2   (no-op)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2DD4BF"/>
                </a:solidFill>
                <a:latin typeface="Consolas"/>
              </a:rPr>
              <a:t>sendContextRelease(ueId,</a:t>
            </a:r>
          </a:p>
          <a:p>
            <a:pPr algn="l"/>
            <a:r>
              <a:rPr lang="en-US" sz="1000" b="0" i="0" dirty="0">
                <a:solidFill>
                  <a:srgbClr val="2DD4BF"/>
                </a:solidFill>
                <a:latin typeface="Consolas"/>
              </a:rPr>
              <a:t>  RadioNetwork_successful_handover)</a:t>
            </a:r>
          </a:p>
          <a:p>
            <a:pPr algn="l">
              <a:spcBef>
                <a:spcPts val="400"/>
              </a:spcBef>
            </a:pPr>
            <a:r>
              <a:rPr lang="en-US" sz="1000" b="0" i="0" dirty="0">
                <a:solidFill>
                  <a:srgbClr val="FBBF24"/>
                </a:solidFill>
                <a:latin typeface="Consolas"/>
              </a:rPr>
              <a:t>T4 ← CurrentTimeMillis()</a:t>
            </a:r>
          </a:p>
          <a:p>
            <a:pPr algn="l">
              <a:spcBef>
                <a:spcPts val="600"/>
              </a:spcBef>
            </a:pPr>
            <a:r>
              <a:rPr lang="en-US" sz="800" b="0" i="0" dirty="0">
                <a:solidFill>
                  <a:srgbClr val="1E4A8A"/>
                </a:solidFill>
                <a:latin typeface="Calibri"/>
              </a:rPr>
              <a:t>────────────────────────────────────────────</a:t>
            </a:r>
          </a:p>
          <a:p>
            <a:pPr algn="l"/>
            <a:r>
              <a:rPr lang="en-US" sz="1000" b="1" i="0" dirty="0">
                <a:solidFill>
                  <a:srgbClr val="E2E8F0"/>
                </a:solidFill>
                <a:latin typeface="Calibri"/>
              </a:rPr>
              <a:t>Logged: </a:t>
            </a:r>
            <a:r>
              <a:rPr lang="en-US" sz="1000" b="0" i="0" dirty="0">
                <a:solidFill>
                  <a:srgbClr val="FBBF24"/>
                </a:solidFill>
                <a:latin typeface="Consolas"/>
              </a:rPr>
              <a:t>xn-prep=T2−T1</a:t>
            </a:r>
            <a:r>
              <a:rPr lang="en-US" sz="1000" b="0" i="0" dirty="0">
                <a:solidFill>
                  <a:srgbClr val="FC8181"/>
                </a:solidFill>
                <a:latin typeface="Consolas"/>
              </a:rPr>
              <a:t>  psw=0ms</a:t>
            </a:r>
            <a:r>
              <a:rPr lang="en-US" sz="1000" b="0" i="0" dirty="0">
                <a:solidFill>
                  <a:srgbClr val="2DD4BF"/>
                </a:solidFill>
                <a:latin typeface="Consolas"/>
              </a:rPr>
              <a:t>  rel=T4−T3</a:t>
            </a:r>
          </a:p>
          <a:p>
            <a:pPr algn="l"/>
            <a:r>
              <a:rPr lang="en-US" sz="1000" b="1" i="0" dirty="0">
                <a:solidFill>
                  <a:srgbClr val="FFA500"/>
                </a:solidFill>
                <a:latin typeface="Consolas"/>
              </a:rPr>
              <a:t>         total=T4−T1</a:t>
            </a:r>
          </a:p>
        </p:txBody>
      </p:sp>
      <p:sp>
        <p:nvSpPr>
          <p:cNvPr id="7" name="panel2"/>
          <p:cNvSpPr txBox="1">
            <a:spLocks noGrp="1"/>
          </p:cNvSpPr>
          <p:nvPr/>
        </p:nvSpPr>
        <p:spPr>
          <a:xfrm>
            <a:off x="4090000" y="650000"/>
            <a:ext cx="3960000" cy="6128000"/>
          </a:xfrm>
          <a:prstGeom prst="rect">
            <a:avLst/>
          </a:prstGeom>
          <a:solidFill>
            <a:srgbClr val="0D1B2A"/>
          </a:solidFill>
          <a:ln w="19050">
            <a:solidFill>
              <a:srgbClr val="1A5C30"/>
            </a:solidFill>
          </a:ln>
        </p:spPr>
        <p:txBody>
          <a:bodyPr wrap="sq" lIns="91440" rIns="91440" tIns="60000" bIns="60000" anchor="t"/>
          <a:lstStyle/>
          <a:p>
            <a:endParaRPr lang="en-US" sz="800" dirty="0"/>
          </a:p>
        </p:txBody>
      </p:sp>
      <p:sp>
        <p:nvSpPr>
          <p:cNvPr id="8" name="hdr2"/>
          <p:cNvSpPr txBox="1">
            <a:spLocks noGrp="1"/>
          </p:cNvSpPr>
          <p:nvPr/>
        </p:nvSpPr>
        <p:spPr>
          <a:xfrm>
            <a:off x="4090000" y="650000"/>
            <a:ext cx="3960000" cy="360000"/>
          </a:xfrm>
          <a:prstGeom prst="rect">
            <a:avLst/>
          </a:prstGeom>
          <a:solidFill>
            <a:srgbClr val="0C2E18"/>
          </a:solidFill>
          <a:ln w="19050">
            <a:solidFill>
              <a:srgbClr val="1A5C30"/>
            </a:solidFill>
          </a:ln>
        </p:spPr>
        <p:txBody>
          <a:bodyPr wrap="sq" lIns="120000" rIns="91440" tIns="110000" bIns="60000" anchor="t"/>
          <a:lstStyle/>
          <a:p>
            <a:pPr algn="l"/>
            <a:r>
              <a:rPr lang="en-US" sz="1300" b="1" i="0" dirty="0">
                <a:solidFill>
                  <a:srgbClr val="4ADE80"/>
                </a:solidFill>
                <a:latin typeface="Calibri"/>
              </a:rPr>
              <a:t>②  Target gNB  —  xn/task.cpp</a:t>
            </a:r>
          </a:p>
        </p:txBody>
      </p:sp>
      <p:sp>
        <p:nvSpPr>
          <p:cNvPr id="9" name="content2"/>
          <p:cNvSpPr txBox="1">
            <a:spLocks noGrp="1"/>
          </p:cNvSpPr>
          <p:nvPr/>
        </p:nvSpPr>
        <p:spPr>
          <a:xfrm>
            <a:off x="4090000" y="1010000"/>
            <a:ext cx="3960000" cy="576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" lIns="120000" rIns="80000" tIns="80000" bIns="60000" anchor="t"/>
          <a:lstStyle/>
          <a:p>
            <a:pPr algn="l"/>
            <a:r>
              <a:rPr lang="en-US" sz="1100" b="1" i="0" dirty="0">
                <a:solidFill>
                  <a:srgbClr val="4ADE80"/>
                </a:solidFill>
                <a:latin typeface="Consolas"/>
              </a:rPr>
              <a:t>XnTask::handleConnection(fd)</a:t>
            </a:r>
          </a:p>
          <a:p>
            <a:pPr algn="l"/>
            <a:r>
              <a:rPr lang="en-US" sz="800" b="0" i="0" dirty="0">
                <a:solidFill>
                  <a:srgbClr val="1A5C30"/>
                </a:solidFill>
                <a:latin typeface="Calibri"/>
              </a:rPr>
              <a:t>────────────────────────────────────────────</a:t>
            </a:r>
          </a:p>
          <a:p>
            <a:pPr algn="l">
              <a:spcBef>
                <a:spcPts val="400"/>
              </a:spcBef>
            </a:pPr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← RecvMsg(fd)</a:t>
            </a:r>
          </a:p>
          <a:p>
            <a:pPr algn="l"/>
            <a:r>
              <a:rPr lang="en-US" sz="1000" b="0" i="0" dirty="0">
                <a:solidFill>
                  <a:srgbClr val="E2E8F0"/>
                </a:solidFill>
                <a:latin typeface="Calibri"/>
              </a:rPr>
              <a:t>  receives XnHandoverRequest JSON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Parse: ueId, amfUeNgapId,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     ranUeNgapId, sliceSst,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     sourceGnb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E2E8F0"/>
                </a:solidFill>
                <a:latin typeface="Consolas"/>
              </a:rPr>
              <a:t>if dispatcherAddress.empty():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// Baseline 1 path</a:t>
            </a:r>
          </a:p>
          <a:p>
            <a:pPr algn="l"/>
            <a:r>
              <a:rPr lang="en-US" sz="1000" b="0" i="0" dirty="0">
                <a:solidFill>
                  <a:srgbClr val="4ADE80"/>
                </a:solidFill>
                <a:latin typeface="Consolas"/>
              </a:rPr>
              <a:t>  selectedAmf = "127.0.0.5"</a:t>
            </a:r>
          </a:p>
          <a:p>
            <a:pPr algn="l"/>
            <a:r>
              <a:rPr lang="en-US" sz="1000" b="0" i="0" dirty="0">
                <a:solidFill>
                  <a:srgbClr val="4ADE80"/>
                </a:solidFill>
                <a:latin typeface="Consolas"/>
              </a:rPr>
              <a:t>  pswMs = 0.0</a:t>
            </a:r>
          </a:p>
          <a:p>
            <a:pPr algn="l">
              <a:spcBef>
                <a:spcPts val="200"/>
              </a:spcBef>
            </a:pPr>
            <a:r>
              <a:rPr lang="en-US" sz="1000" b="0" i="0" dirty="0">
                <a:solidFill>
                  <a:srgbClr val="E2E8F0"/>
                </a:solidFill>
                <a:latin typeface="Consolas"/>
              </a:rPr>
              <a:t>else:</a:t>
            </a:r>
          </a:p>
          <a:p>
            <a:pPr algn="l"/>
            <a:r>
              <a:rPr lang="en-US" sz="1000" b="0" i="0" dirty="0">
                <a:solidFill>
                  <a:srgbClr val="C084FC"/>
                </a:solidFill>
                <a:latin typeface="Consolas"/>
              </a:rPr>
              <a:t>  ContactDispatcher(addr,port)</a:t>
            </a:r>
          </a:p>
          <a:p>
            <a:pPr algn="l"/>
            <a:r>
              <a:rPr lang="en-US" sz="1000" b="0" i="0" dirty="0">
                <a:solidFill>
                  <a:srgbClr val="C084FC"/>
                </a:solidFill>
                <a:latin typeface="Consolas"/>
              </a:rPr>
              <a:t>  pswMs ← measured</a:t>
            </a:r>
          </a:p>
          <a:p>
            <a:pPr algn="l">
              <a:spcBef>
                <a:spcPts val="600"/>
              </a:spcBef>
            </a:pPr>
            <a:r>
              <a:rPr lang="en-US" sz="1000" b="1" i="0" dirty="0">
                <a:solidFill>
                  <a:srgbClr val="E2E8F0"/>
                </a:solidFill>
                <a:latin typeface="Calibri"/>
              </a:rPr>
              <a:t>Build XnHandoverAck JSON: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{ type:"XnHandoverAck",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  ueId, sliceSst,</a:t>
            </a:r>
          </a:p>
          <a:p>
            <a:pPr algn="l"/>
            <a:r>
              <a:rPr lang="en-US" sz="1000" b="0" i="0" dirty="0">
                <a:solidFill>
                  <a:srgbClr val="4ADE80"/>
                </a:solidFill>
                <a:latin typeface="Consolas"/>
              </a:rPr>
              <a:t>    status:"OK",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  targetCell: config-&gt;name,</a:t>
            </a:r>
          </a:p>
          <a:p>
            <a:pPr algn="l"/>
            <a:r>
              <a:rPr lang="en-US" sz="1000" b="0" i="0" dirty="0">
                <a:solidFill>
                  <a:srgbClr val="FBBF24"/>
                </a:solidFill>
                <a:latin typeface="Consolas"/>
              </a:rPr>
              <a:t>    selectedAmf, pswLatencyMs }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4ADE80"/>
                </a:solidFill>
                <a:latin typeface="Consolas"/>
              </a:rPr>
              <a:t>→ SendMsg(fd, ack)</a:t>
            </a:r>
          </a:p>
          <a:p>
            <a:pPr algn="l"/>
            <a:r>
              <a:rPr lang="en-US" sz="1000" b="0" i="1" dirty="0">
                <a:solidFill>
                  <a:srgbClr val="8B949E"/>
                </a:solidFill>
                <a:latin typeface="Calibri"/>
              </a:rPr>
              <a:t>→ log: HandoverAck | psw=0.1ms</a:t>
            </a:r>
          </a:p>
        </p:txBody>
      </p:sp>
      <p:sp>
        <p:nvSpPr>
          <p:cNvPr id="10" name="panel3"/>
          <p:cNvSpPr txBox="1">
            <a:spLocks noGrp="1"/>
          </p:cNvSpPr>
          <p:nvPr/>
        </p:nvSpPr>
        <p:spPr>
          <a:xfrm>
            <a:off x="8100000" y="650000"/>
            <a:ext cx="3960000" cy="6128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A1A70"/>
            </a:solidFill>
          </a:ln>
        </p:spPr>
        <p:txBody>
          <a:bodyPr wrap="sq" lIns="91440" rIns="91440" tIns="60000" bIns="60000" anchor="t"/>
          <a:lstStyle/>
          <a:p>
            <a:endParaRPr lang="en-US" sz="800" dirty="0"/>
          </a:p>
        </p:txBody>
      </p:sp>
      <p:sp>
        <p:nvSpPr>
          <p:cNvPr id="11" name="hdr3"/>
          <p:cNvSpPr txBox="1">
            <a:spLocks noGrp="1"/>
          </p:cNvSpPr>
          <p:nvPr/>
        </p:nvSpPr>
        <p:spPr>
          <a:xfrm>
            <a:off x="8100000" y="650000"/>
            <a:ext cx="3960000" cy="360000"/>
          </a:xfrm>
          <a:prstGeom prst="rect">
            <a:avLst/>
          </a:prstGeom>
          <a:solidFill>
            <a:srgbClr val="1E0C30"/>
          </a:solidFill>
          <a:ln w="19050">
            <a:solidFill>
              <a:srgbClr val="4A1A70"/>
            </a:solidFill>
          </a:ln>
        </p:spPr>
        <p:txBody>
          <a:bodyPr wrap="sq" lIns="120000" rIns="91440" tIns="110000" bIns="60000" anchor="t"/>
          <a:lstStyle/>
          <a:p>
            <a:pPr algn="l"/>
            <a:r>
              <a:rPr lang="en-US" sz="1300" b="1" i="0" dirty="0">
                <a:solidFill>
                  <a:srgbClr val="C084FC"/>
                </a:solidFill>
                <a:latin typeface="Calibri"/>
              </a:rPr>
              <a:t>③  After Handover  —  UE + AMF</a:t>
            </a:r>
          </a:p>
        </p:txBody>
      </p:sp>
      <p:sp>
        <p:nvSpPr>
          <p:cNvPr id="12" name="content3"/>
          <p:cNvSpPr txBox="1">
            <a:spLocks noGrp="1"/>
          </p:cNvSpPr>
          <p:nvPr/>
        </p:nvSpPr>
        <p:spPr>
          <a:xfrm>
            <a:off x="8100000" y="1010000"/>
            <a:ext cx="3960000" cy="576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" lIns="120000" rIns="80000" tIns="80000" bIns="60000" anchor="t"/>
          <a:lstStyle/>
          <a:p>
            <a:pPr algn="l"/>
            <a:r>
              <a:rPr lang="en-US" sz="1100" b="1" i="0" dirty="0">
                <a:solidFill>
                  <a:srgbClr val="C084FC"/>
                </a:solidFill>
                <a:latin typeface="Calibri"/>
              </a:rPr>
              <a:t>After RRC Release  →  UE: CM-IDLE</a:t>
            </a:r>
          </a:p>
          <a:p>
            <a:pPr algn="l"/>
            <a:r>
              <a:rPr lang="en-US" sz="800" b="0" i="0" dirty="0">
                <a:solidFill>
                  <a:srgbClr val="4A1A70"/>
                </a:solidFill>
                <a:latin typeface="Calibri"/>
              </a:rPr>
              <a:t>────────────────────────────────────────────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E2E8F0"/>
                </a:solidFill>
                <a:latin typeface="Calibri"/>
              </a:rPr>
              <a:t>UE detects uplink data pending</a:t>
            </a:r>
          </a:p>
          <a:p>
            <a:pPr algn="l"/>
            <a:r>
              <a:rPr lang="en-US" sz="1000" b="0" i="0" dirty="0">
                <a:solidFill>
                  <a:srgbClr val="60A5FA"/>
                </a:solidFill>
                <a:latin typeface="Calibri"/>
              </a:rPr>
              <a:t>→ sends Service Request to gnb2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C084FC"/>
                </a:solidFill>
                <a:latin typeface="Consolas"/>
              </a:rPr>
              <a:t>gnb2: handleInitialNasTransport()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extractSliceInfoAndModifyPdu()</a:t>
            </a:r>
          </a:p>
          <a:p>
            <a:pPr algn="l"/>
            <a:r>
              <a:rPr lang="en-US" sz="1000" b="0" i="0" dirty="0">
                <a:solidFill>
                  <a:srgbClr val="FC8181"/>
                </a:solidFill>
                <a:latin typeface="Consolas"/>
              </a:rPr>
              <a:t>  → requestedSliceType = -1</a:t>
            </a:r>
          </a:p>
          <a:p>
            <a:pPr algn="l"/>
            <a:r>
              <a:rPr lang="en-US" sz="1000" b="0" i="1" dirty="0">
                <a:solidFill>
                  <a:srgbClr val="8B949E"/>
                </a:solidFill>
                <a:latin typeface="Calibri"/>
              </a:rPr>
              <a:t>    (Service Req has no NSSAI)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E2E8F0"/>
                </a:solidFill>
                <a:latin typeface="Consolas"/>
              </a:rPr>
              <a:t>selectAmf(ueId, -1):</a:t>
            </a:r>
          </a:p>
          <a:p>
            <a:pPr algn="l"/>
            <a:r>
              <a:rPr lang="en-US" sz="1000" b="0" i="0" dirty="0">
                <a:solidFill>
                  <a:srgbClr val="8B949E"/>
                </a:solidFill>
                <a:latin typeface="Consolas"/>
              </a:rPr>
              <a:t>  no slice match found</a:t>
            </a:r>
          </a:p>
          <a:p>
            <a:pPr algn="l"/>
            <a:r>
              <a:rPr lang="en-US" sz="1000" b="0" i="0" dirty="0">
                <a:solidFill>
                  <a:srgbClr val="4ADE80"/>
                </a:solidFill>
                <a:latin typeface="Consolas"/>
              </a:rPr>
              <a:t>  → fallback: anyConnected AMF</a:t>
            </a:r>
          </a:p>
          <a:p>
            <a:pPr algn="l"/>
            <a:r>
              <a:rPr lang="en-US" sz="1000" b="1" i="0" dirty="0">
                <a:solidFill>
                  <a:srgbClr val="4ADE80"/>
                </a:solidFill>
                <a:latin typeface="Calibri"/>
              </a:rPr>
              <a:t>  ✓ fixed in nnsf.cpp</a:t>
            </a:r>
          </a:p>
          <a:p>
            <a:pPr algn="l">
              <a:spcBef>
                <a:spcPts val="600"/>
              </a:spcBef>
            </a:pPr>
            <a:r>
              <a:rPr lang="en-US" sz="1000" b="0" i="0" dirty="0">
                <a:solidFill>
                  <a:srgbClr val="2DD4BF"/>
                </a:solidFill>
                <a:latin typeface="Consolas"/>
              </a:rPr>
              <a:t>AMF → InitialContextSetupReq</a:t>
            </a:r>
          </a:p>
          <a:p>
            <a:pPr algn="l"/>
            <a:r>
              <a:rPr lang="en-US" sz="1000" b="0" i="0" dirty="0">
                <a:solidFill>
                  <a:srgbClr val="E2E8F0"/>
                </a:solidFill>
                <a:latin typeface="Calibri"/>
              </a:rPr>
              <a:t>gnb2 processes, sends response</a:t>
            </a:r>
          </a:p>
          <a:p>
            <a:pPr algn="l">
              <a:spcBef>
                <a:spcPts val="600"/>
              </a:spcBef>
            </a:pPr>
            <a:r>
              <a:rPr lang="en-US" sz="1000" b="1" i="0" dirty="0">
                <a:solidFill>
                  <a:srgbClr val="4ADE80"/>
                </a:solidFill>
                <a:latin typeface="Calibri"/>
              </a:rPr>
              <a:t>AMF → Service Accept → UE</a:t>
            </a:r>
          </a:p>
          <a:p>
            <a:pPr algn="l">
              <a:spcBef>
                <a:spcPts val="400"/>
              </a:spcBef>
            </a:pPr>
            <a:r>
              <a:rPr lang="en-US" sz="800" b="0" i="0" dirty="0">
                <a:solidFill>
                  <a:srgbClr val="4A1A70"/>
                </a:solidFill>
                <a:latin typeface="Calibri"/>
              </a:rPr>
              <a:t>────────────────────────────────────────────</a:t>
            </a:r>
          </a:p>
          <a:p>
            <a:pPr algn="l"/>
            <a:r>
              <a:rPr lang="en-US" sz="1000" b="1" i="0" dirty="0">
                <a:solidFill>
                  <a:srgbClr val="4ADE80"/>
                </a:solidFill>
                <a:latin typeface="Calibri"/>
              </a:rPr>
              <a:t>UE: MM-REGISTERED/NORMAL-SVC ✓</a:t>
            </a:r>
          </a:p>
          <a:p>
            <a:pPr algn="l"/>
            <a:r>
              <a:rPr lang="en-US" sz="1000" b="1" i="0" dirty="0">
                <a:solidFill>
                  <a:srgbClr val="4ADE80"/>
                </a:solidFill>
                <a:latin typeface="Calibri"/>
              </a:rPr>
              <a:t>PDU session PSI[1] resumed   ✓</a:t>
            </a:r>
          </a:p>
        </p:txBody>
      </p:sp>
      <p:sp>
        <p:nvSpPr>
          <p:cNvPr id="13" name="timebg"/>
          <p:cNvSpPr txBox="1">
            <a:spLocks noGrp="1"/>
          </p:cNvSpPr>
          <p:nvPr/>
        </p:nvSpPr>
        <p:spPr>
          <a:xfrm>
            <a:off x="80000" y="6590000"/>
            <a:ext cx="12032000" cy="200000"/>
          </a:xfrm>
          <a:prstGeom prst="rect">
            <a:avLst/>
          </a:prstGeom>
          <a:solidFill>
            <a:srgbClr val="2E1800"/>
          </a:solidFill>
          <a:ln w="12700">
            <a:solidFill>
              <a:srgbClr val="8A4A00"/>
            </a:solidFill>
          </a:ln>
        </p:spPr>
        <p:txBody>
          <a:bodyPr wrap="sq" lIns="91440" rIns="91440" tIns="60000" bIns="60000" anchor="t"/>
          <a:lstStyle/>
          <a:p>
            <a:endParaRPr lang="en-US" sz="800" dirty="0"/>
          </a:p>
        </p:txBody>
      </p:sp>
      <p:sp>
        <p:nvSpPr>
          <p:cNvPr id="14" name="timeline"/>
          <p:cNvSpPr txBox="1">
            <a:spLocks noGrp="1"/>
          </p:cNvSpPr>
          <p:nvPr/>
        </p:nvSpPr>
        <p:spPr>
          <a:xfrm>
            <a:off x="80000" y="6590000"/>
            <a:ext cx="12032000" cy="200000"/>
          </a:xfrm>
          <a:prstGeom prst="rect">
            <a:avLst/>
          </a:prstGeom>
          <a:solidFill>
            <a:srgbClr val="2E1800"/>
          </a:solidFill>
          <a:ln>
            <a:noFill/>
          </a:ln>
        </p:spPr>
        <p:txBody>
          <a:bodyPr wrap="sq" lIns="120000" rIns="91440" tIns="55000" bIns="60000" anchor="t"/>
          <a:lstStyle/>
          <a:p>
            <a:pPr algn="l"/>
            <a:r>
              <a:rPr lang="en-US" sz="1000" b="1" i="0" dirty="0">
                <a:solidFill>
                  <a:srgbClr val="FBBF24"/>
                </a:solidFill>
                <a:latin typeface="Calibri"/>
              </a:rPr>
              <a:t>T1</a:t>
            </a:r>
            <a:r>
              <a:rPr lang="en-US" sz="1000" b="0" i="0" dirty="0">
                <a:solidFill>
                  <a:srgbClr val="8B949E"/>
                </a:solidFill>
                <a:latin typeface="Calibri"/>
              </a:rPr>
              <a:t> ──── xn-prep (Xn round-trip + target processing) ────</a:t>
            </a:r>
            <a:r>
              <a:rPr lang="en-US" sz="1000" b="1" i="0" dirty="0">
                <a:solidFill>
                  <a:srgbClr val="FBBF24"/>
                </a:solidFill>
                <a:latin typeface="Calibri"/>
              </a:rPr>
              <a:t> T2</a:t>
            </a:r>
            <a:r>
              <a:rPr lang="en-US" sz="1000" b="0" i="0" dirty="0">
                <a:solidFill>
                  <a:srgbClr val="8B949E"/>
                </a:solidFill>
                <a:latin typeface="Calibri"/>
              </a:rPr>
              <a:t> ── psw=0ms (skipped) ── </a:t>
            </a:r>
            <a:r>
              <a:rPr lang="en-US" sz="1000" b="1" i="0" dirty="0">
                <a:solidFill>
                  <a:srgbClr val="FBBF24"/>
                </a:solidFill>
                <a:latin typeface="Calibri"/>
              </a:rPr>
              <a:t>T3</a:t>
            </a:r>
            <a:r>
              <a:rPr lang="en-US" sz="1000" b="0" i="0" dirty="0">
                <a:solidFill>
                  <a:srgbClr val="8B949E"/>
                </a:solidFill>
                <a:latin typeface="Calibri"/>
              </a:rPr>
              <a:t> ──── release (NGAP UEContextRelease) ────</a:t>
            </a:r>
            <a:r>
              <a:rPr lang="en-US" sz="1000" b="1" i="0" dirty="0">
                <a:solidFill>
                  <a:srgbClr val="FBBF24"/>
                </a:solidFill>
                <a:latin typeface="Calibri"/>
              </a:rPr>
              <a:t> T4</a:t>
            </a:r>
            <a:r>
              <a:rPr lang="en-US" sz="1000" b="1" i="0" dirty="0">
                <a:solidFill>
                  <a:srgbClr val="FFA500"/>
                </a:solidFill>
                <a:latin typeface="Calibri"/>
              </a:rPr>
              <a:t>     │     total = T4−T1  ≈  2 ms  (Baseline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